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5029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for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47472" y="11430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 Defect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47472" y="17830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EF3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in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47472" y="2423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Manufacturing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3017520"/>
            <a:ext cx="3291840" cy="4572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3127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Verma  |  Roll No. 065067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7472" y="35112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Managers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E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Amarnath Mitra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914400"/>
            <a:ext cx="2103120" cy="1600200"/>
          </a:xfrm>
          <a:prstGeom prst="rect">
            <a:avLst/>
          </a:prstGeom>
          <a:solidFill>
            <a:srgbClr val="E8452C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07899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480560" y="19019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Classes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914400"/>
            <a:ext cx="2103120" cy="1600200"/>
          </a:xfrm>
          <a:prstGeom prst="rect">
            <a:avLst/>
          </a:prstGeom>
          <a:solidFill>
            <a:srgbClr val="F0A500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07899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66560" y="19019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Defect DB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2743200"/>
            <a:ext cx="21031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0" y="290779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480560" y="37307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2743200"/>
            <a:ext cx="2103120" cy="1600200"/>
          </a:xfrm>
          <a:prstGeom prst="rect">
            <a:avLst/>
          </a:prstGeom>
          <a:solidFill>
            <a:srgbClr val="E8ECFA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290779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766560" y="37307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06240" y="4754880"/>
            <a:ext cx="4937760" cy="3886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251960" y="4782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· Keras · Python · NEU Dataset · 128×128 · Adam · Categorical Crossentropy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AGENDA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21792" cy="1143000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16736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109728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&amp; 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55448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context, challenges, objectives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621792" cy="1143000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16736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59552" y="109728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59552" y="155448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DB · 6 defect classes · distribution chart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04288"/>
            <a:ext cx="621792" cy="1143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615184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8992" y="2395728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2852928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 · normalization · augmentation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304288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304288"/>
            <a:ext cx="621792" cy="1143000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615184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59552" y="2395728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Model Architecture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59552" y="2852928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design · hyperparameters · summary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602736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02736"/>
            <a:ext cx="621792" cy="1143000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913632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78992" y="3694176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 &amp; Performance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78992" y="4151376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graph · loss graph · epoch analysis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602736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02736"/>
            <a:ext cx="621792" cy="1143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913632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59552" y="3694176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&amp; Managerial Insights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59552" y="4151376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· ROC curves · business value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 ·  Why Automate Defect Detection?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420624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2412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Current Manual Process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00600" y="1005840"/>
            <a:ext cx="3977640" cy="420624"/>
          </a:xfrm>
          <a:prstGeom prst="rect">
            <a:avLst/>
          </a:prstGeom>
          <a:solidFill>
            <a:srgbClr val="E8ECFA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2412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CNN Automation Goals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517904"/>
            <a:ext cx="3977640" cy="713232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627632"/>
            <a:ext cx="1188720" cy="310896"/>
          </a:xfrm>
          <a:prstGeom prst="roundRect">
            <a:avLst>
              <a:gd name="adj" fmla="val 29412"/>
            </a:avLst>
          </a:prstGeom>
          <a:solidFill>
            <a:srgbClr val="E8452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6276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55648" y="165506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4–10 sec per part inspection by human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3977640" cy="713232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2441448"/>
            <a:ext cx="1188720" cy="310896"/>
          </a:xfrm>
          <a:prstGeom prst="roundRect">
            <a:avLst>
              <a:gd name="adj" fmla="val 29412"/>
            </a:avLst>
          </a:prstGeom>
          <a:solidFill>
            <a:srgbClr val="E8452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4414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55648" y="24688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&amp; subjectivity cause mistakes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45536"/>
            <a:ext cx="3977640" cy="713232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255264"/>
            <a:ext cx="1188720" cy="310896"/>
          </a:xfrm>
          <a:prstGeom prst="roundRect">
            <a:avLst>
              <a:gd name="adj" fmla="val 29412"/>
            </a:avLst>
          </a:prstGeom>
          <a:solidFill>
            <a:srgbClr val="E8452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2552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SCALABLE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55648" y="328269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linearly with production volume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959352"/>
            <a:ext cx="3977640" cy="713232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4069080"/>
            <a:ext cx="1188720" cy="310896"/>
          </a:xfrm>
          <a:prstGeom prst="roundRect">
            <a:avLst>
              <a:gd name="adj" fmla="val 29412"/>
            </a:avLst>
          </a:prstGeom>
          <a:solidFill>
            <a:srgbClr val="E8452C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40690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55648" y="409651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inspector, shift &amp; lighting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517904"/>
            <a:ext cx="3977640" cy="713232"/>
          </a:xfrm>
          <a:prstGeom prst="rect">
            <a:avLst/>
          </a:prstGeom>
          <a:solidFill>
            <a:srgbClr val="E8ECF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0328" y="1627632"/>
            <a:ext cx="1188720" cy="310896"/>
          </a:xfrm>
          <a:prstGeom prst="roundRect">
            <a:avLst>
              <a:gd name="adj" fmla="val 29412"/>
            </a:avLst>
          </a:prstGeom>
          <a:solidFill>
            <a:srgbClr val="2D3A8C"/>
          </a:solidFill>
          <a:ln/>
        </p:spPr>
      </p:sp>
      <p:sp>
        <p:nvSpPr>
          <p:cNvPr id="26" name="Text 24"/>
          <p:cNvSpPr/>
          <p:nvPr/>
        </p:nvSpPr>
        <p:spPr>
          <a:xfrm>
            <a:off x="4910328" y="16276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0488" y="165506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per image in real-time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2331720"/>
            <a:ext cx="3977640" cy="713232"/>
          </a:xfrm>
          <a:prstGeom prst="rect">
            <a:avLst/>
          </a:prstGeom>
          <a:solidFill>
            <a:srgbClr val="E8ECF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0328" y="2441448"/>
            <a:ext cx="1188720" cy="310896"/>
          </a:xfrm>
          <a:prstGeom prst="roundRect">
            <a:avLst>
              <a:gd name="adj" fmla="val 29412"/>
            </a:avLst>
          </a:prstGeom>
          <a:solidFill>
            <a:srgbClr val="2D3A8C"/>
          </a:solidFill>
          <a:ln/>
        </p:spPr>
      </p:sp>
      <p:sp>
        <p:nvSpPr>
          <p:cNvPr id="30" name="Text 28"/>
          <p:cNvSpPr/>
          <p:nvPr/>
        </p:nvSpPr>
        <p:spPr>
          <a:xfrm>
            <a:off x="4910328" y="24414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0488" y="24688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&gt;95% defect detection accuracy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00600" y="3145536"/>
            <a:ext cx="3977640" cy="713232"/>
          </a:xfrm>
          <a:prstGeom prst="rect">
            <a:avLst/>
          </a:prstGeom>
          <a:solidFill>
            <a:srgbClr val="E8ECF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10328" y="3255264"/>
            <a:ext cx="1188720" cy="310896"/>
          </a:xfrm>
          <a:prstGeom prst="roundRect">
            <a:avLst>
              <a:gd name="adj" fmla="val 29412"/>
            </a:avLst>
          </a:prstGeom>
          <a:solidFill>
            <a:srgbClr val="2D3A8C"/>
          </a:solidFill>
          <a:ln/>
        </p:spPr>
      </p:sp>
      <p:sp>
        <p:nvSpPr>
          <p:cNvPr id="34" name="Text 32"/>
          <p:cNvSpPr/>
          <p:nvPr/>
        </p:nvSpPr>
        <p:spPr>
          <a:xfrm>
            <a:off x="4910328" y="32552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90488" y="328269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thousands of images per hour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00600" y="3959352"/>
            <a:ext cx="3977640" cy="713232"/>
          </a:xfrm>
          <a:prstGeom prst="rect">
            <a:avLst/>
          </a:prstGeom>
          <a:solidFill>
            <a:srgbClr val="E8ECF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10328" y="4069080"/>
            <a:ext cx="1188720" cy="310896"/>
          </a:xfrm>
          <a:prstGeom prst="roundRect">
            <a:avLst>
              <a:gd name="adj" fmla="val 29412"/>
            </a:avLst>
          </a:prstGeom>
          <a:solidFill>
            <a:srgbClr val="2D3A8C"/>
          </a:solidFill>
          <a:ln/>
        </p:spPr>
      </p:sp>
      <p:sp>
        <p:nvSpPr>
          <p:cNvPr id="38" name="Text 36"/>
          <p:cNvSpPr/>
          <p:nvPr/>
        </p:nvSpPr>
        <p:spPr>
          <a:xfrm>
            <a:off x="4910328" y="40690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90488" y="409651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bias-free automated inspection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  ·  NEU Surface Defect Database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1938528" cy="914400"/>
          </a:xfrm>
          <a:prstGeom prst="rect">
            <a:avLst/>
          </a:prstGeom>
          <a:solidFill>
            <a:srgbClr val="E8452C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0241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1,440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47472" y="1517904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50592" y="987552"/>
            <a:ext cx="1938528" cy="914400"/>
          </a:xfrm>
          <a:prstGeom prst="rect">
            <a:avLst/>
          </a:prstGeom>
          <a:solidFill>
            <a:srgbClr val="2D3A8C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0241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517904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Classes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53712" y="987552"/>
            <a:ext cx="1938528" cy="914400"/>
          </a:xfrm>
          <a:prstGeom prst="rect">
            <a:avLst/>
          </a:prstGeom>
          <a:solidFill>
            <a:srgbClr val="F0A500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53712" y="10241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53712" y="1517904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/ Class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56832" y="987552"/>
            <a:ext cx="1938528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56832" y="10241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128px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56832" y="1517904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" y="1993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Defect Categories: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7472" y="2414016"/>
            <a:ext cx="1901952" cy="384048"/>
          </a:xfrm>
          <a:prstGeom prst="roundRect">
            <a:avLst>
              <a:gd name="adj" fmla="val 23810"/>
            </a:avLst>
          </a:prstGeom>
          <a:solidFill>
            <a:srgbClr val="E8452C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41401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Crazing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04872" y="2414016"/>
            <a:ext cx="1901952" cy="384048"/>
          </a:xfrm>
          <a:prstGeom prst="roundRect">
            <a:avLst>
              <a:gd name="adj" fmla="val 23810"/>
            </a:avLst>
          </a:prstGeom>
          <a:solidFill>
            <a:srgbClr val="2D3A8C"/>
          </a:solidFill>
          <a:ln/>
        </p:spPr>
      </p:sp>
      <p:sp>
        <p:nvSpPr>
          <p:cNvPr id="20" name="Text 18"/>
          <p:cNvSpPr/>
          <p:nvPr/>
        </p:nvSpPr>
        <p:spPr>
          <a:xfrm>
            <a:off x="2404872" y="241401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" y="2916936"/>
            <a:ext cx="1901952" cy="384048"/>
          </a:xfrm>
          <a:prstGeom prst="roundRect">
            <a:avLst>
              <a:gd name="adj" fmla="val 23810"/>
            </a:avLst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291693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04872" y="2916936"/>
            <a:ext cx="1901952" cy="384048"/>
          </a:xfrm>
          <a:prstGeom prst="roundRect">
            <a:avLst>
              <a:gd name="adj" fmla="val 23810"/>
            </a:avLst>
          </a:prstGeom>
          <a:solidFill>
            <a:srgbClr val="FDECEA"/>
          </a:solidFill>
          <a:ln/>
        </p:spPr>
      </p:sp>
      <p:sp>
        <p:nvSpPr>
          <p:cNvPr id="24" name="Text 22"/>
          <p:cNvSpPr/>
          <p:nvPr/>
        </p:nvSpPr>
        <p:spPr>
          <a:xfrm>
            <a:off x="2404872" y="291693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Pitted Surface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" y="3419856"/>
            <a:ext cx="1901952" cy="384048"/>
          </a:xfrm>
          <a:prstGeom prst="roundRect">
            <a:avLst>
              <a:gd name="adj" fmla="val 23810"/>
            </a:avLst>
          </a:prstGeom>
          <a:solidFill>
            <a:srgbClr val="E8ECFA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341985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Rolled-in Scale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04872" y="3419856"/>
            <a:ext cx="1901952" cy="384048"/>
          </a:xfrm>
          <a:prstGeom prst="roundRect">
            <a:avLst>
              <a:gd name="adj" fmla="val 23810"/>
            </a:avLst>
          </a:prstGeom>
          <a:solidFill>
            <a:srgbClr val="FEF3D0"/>
          </a:solidFill>
          <a:ln/>
        </p:spPr>
      </p:sp>
      <p:sp>
        <p:nvSpPr>
          <p:cNvPr id="28" name="Text 26"/>
          <p:cNvSpPr/>
          <p:nvPr/>
        </p:nvSpPr>
        <p:spPr>
          <a:xfrm>
            <a:off x="2404872" y="341985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51960" y="987552"/>
            <a:ext cx="4681728" cy="3950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pic>
        <p:nvPicPr>
          <p:cNvPr id="30" name="Image 0" descr="/home/claude/img_class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33272"/>
            <a:ext cx="4590288" cy="38587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00" kern="0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IMAGE VISUALIZATION  ·  NEU Defect Patterns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grayscale samples from each of the 6 defect classes in the NEU Surface Defect Database: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3493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pic>
        <p:nvPicPr>
          <p:cNvPr id="6" name="Image 0" descr="/home/claude/img_sample_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8321040" cy="34015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exhibits distinct visual textures — enabling the CNN to learn discriminative spatial features automatically.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  ·  Pipeline &amp; Augmentation Techniques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Steps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987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Augmentation Techniques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1051560"/>
          </a:xfrm>
          <a:prstGeom prst="rect">
            <a:avLst/>
          </a:prstGeom>
          <a:solidFill>
            <a:srgbClr val="FDF7F2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502920" cy="1051560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41832" y="1508760"/>
            <a:ext cx="3465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Resizing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1874520"/>
            <a:ext cx="3465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resized to 128×128 px for consistent neural network input dimensions.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4114800" cy="1051560"/>
          </a:xfrm>
          <a:prstGeom prst="rect">
            <a:avLst/>
          </a:prstGeom>
          <a:solidFill>
            <a:srgbClr val="FDF7F2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606040"/>
            <a:ext cx="502920" cy="1051560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41832" y="2697480"/>
            <a:ext cx="3465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1832" y="3063240"/>
            <a:ext cx="3465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scaled to [0, 1] range — stabilizes gradient descent and speeds convergence.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4114800" cy="1051560"/>
          </a:xfrm>
          <a:prstGeom prst="rect">
            <a:avLst/>
          </a:prstGeom>
          <a:solidFill>
            <a:srgbClr val="FDF7F2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94760"/>
            <a:ext cx="502920" cy="10515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41832" y="3886200"/>
            <a:ext cx="3465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/ Val Split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" y="4251960"/>
            <a:ext cx="3465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into training and validation sets for unbiased performance evaluation.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417320"/>
            <a:ext cx="4114800" cy="105156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417320"/>
            <a:ext cx="502920" cy="1051560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30952" y="1508760"/>
            <a:ext cx="3465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30952" y="1874520"/>
            <a:ext cx="3465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rotations applied to add orientation diversity to training samples.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606040"/>
            <a:ext cx="4114800" cy="105156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606040"/>
            <a:ext cx="502920" cy="1051560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30952" y="2697480"/>
            <a:ext cx="3465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Horizontal Flip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30952" y="3063240"/>
            <a:ext cx="3465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images to reduce directional bias and improve model generalization.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794760"/>
            <a:ext cx="4114800" cy="105156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794760"/>
            <a:ext cx="502920" cy="10515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330952" y="3886200"/>
            <a:ext cx="3465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Zoom &amp; Shear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30952" y="4251960"/>
            <a:ext cx="3465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shear transforms simulate real-world geometric variations in images.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MODEL ARCHITECTURE  ·  Custom Deep Network Design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841248" cy="1024128"/>
          </a:xfrm>
          <a:prstGeom prst="rect">
            <a:avLst/>
          </a:prstGeom>
          <a:solidFill>
            <a:srgbClr val="2D3A8C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01498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149047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128×128×3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7280" y="1463040"/>
            <a:ext cx="128016" cy="54864"/>
          </a:xfrm>
          <a:prstGeom prst="rect">
            <a:avLst/>
          </a:prstGeom>
          <a:solidFill>
            <a:srgbClr val="3D4A6B"/>
          </a:solidFill>
          <a:ln/>
        </p:spPr>
      </p:sp>
      <p:sp>
        <p:nvSpPr>
          <p:cNvPr id="8" name="Shape 6"/>
          <p:cNvSpPr/>
          <p:nvPr/>
        </p:nvSpPr>
        <p:spPr>
          <a:xfrm>
            <a:off x="1225296" y="987552"/>
            <a:ext cx="841248" cy="1024128"/>
          </a:xfrm>
          <a:prstGeom prst="rect">
            <a:avLst/>
          </a:prstGeom>
          <a:solidFill>
            <a:srgbClr val="E8452C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25296" y="101498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CONV2D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25296" y="149047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66544" y="1463040"/>
            <a:ext cx="128016" cy="54864"/>
          </a:xfrm>
          <a:prstGeom prst="rect">
            <a:avLst/>
          </a:prstGeom>
          <a:solidFill>
            <a:srgbClr val="3D4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4560" y="987552"/>
            <a:ext cx="841248" cy="1024128"/>
          </a:xfrm>
          <a:prstGeom prst="rect">
            <a:avLst/>
          </a:prstGeom>
          <a:solidFill>
            <a:srgbClr val="2D3A8C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94560" y="101498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149047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35808" y="1463040"/>
            <a:ext cx="128016" cy="54864"/>
          </a:xfrm>
          <a:prstGeom prst="rect">
            <a:avLst/>
          </a:prstGeom>
          <a:solidFill>
            <a:srgbClr val="3D4A6B"/>
          </a:solidFill>
          <a:ln/>
        </p:spPr>
      </p:sp>
      <p:sp>
        <p:nvSpPr>
          <p:cNvPr id="16" name="Shape 14"/>
          <p:cNvSpPr/>
          <p:nvPr/>
        </p:nvSpPr>
        <p:spPr>
          <a:xfrm>
            <a:off x="3163824" y="987552"/>
            <a:ext cx="841248" cy="1024128"/>
          </a:xfrm>
          <a:prstGeom prst="rect">
            <a:avLst/>
          </a:prstGeom>
          <a:solidFill>
            <a:srgbClr val="F0A500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63824" y="101498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63824" y="149047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05072" y="1463040"/>
            <a:ext cx="128016" cy="54864"/>
          </a:xfrm>
          <a:prstGeom prst="rect">
            <a:avLst/>
          </a:prstGeom>
          <a:solidFill>
            <a:srgbClr val="3D4A6B"/>
          </a:solidFill>
          <a:ln/>
        </p:spPr>
      </p:sp>
      <p:sp>
        <p:nvSpPr>
          <p:cNvPr id="20" name="Shape 18"/>
          <p:cNvSpPr/>
          <p:nvPr/>
        </p:nvSpPr>
        <p:spPr>
          <a:xfrm>
            <a:off x="4133088" y="987552"/>
            <a:ext cx="841248" cy="1024128"/>
          </a:xfrm>
          <a:prstGeom prst="rect">
            <a:avLst/>
          </a:prstGeom>
          <a:solidFill>
            <a:srgbClr val="E8452C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33088" y="101498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CONV2D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33088" y="149047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974336" y="1463040"/>
            <a:ext cx="128016" cy="54864"/>
          </a:xfrm>
          <a:prstGeom prst="rect">
            <a:avLst/>
          </a:prstGeom>
          <a:solidFill>
            <a:srgbClr val="3D4A6B"/>
          </a:solidFill>
          <a:ln/>
        </p:spPr>
      </p:sp>
      <p:sp>
        <p:nvSpPr>
          <p:cNvPr id="24" name="Shape 22"/>
          <p:cNvSpPr/>
          <p:nvPr/>
        </p:nvSpPr>
        <p:spPr>
          <a:xfrm>
            <a:off x="5102352" y="987552"/>
            <a:ext cx="841248" cy="1024128"/>
          </a:xfrm>
          <a:prstGeom prst="rect">
            <a:avLst/>
          </a:prstGeom>
          <a:solidFill>
            <a:srgbClr val="F0A500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02352" y="101498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02352" y="149047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0" y="1463040"/>
            <a:ext cx="128016" cy="54864"/>
          </a:xfrm>
          <a:prstGeom prst="rect">
            <a:avLst/>
          </a:prstGeom>
          <a:solidFill>
            <a:srgbClr val="3D4A6B"/>
          </a:solidFill>
          <a:ln/>
        </p:spPr>
      </p:sp>
      <p:sp>
        <p:nvSpPr>
          <p:cNvPr id="28" name="Shape 26"/>
          <p:cNvSpPr/>
          <p:nvPr/>
        </p:nvSpPr>
        <p:spPr>
          <a:xfrm>
            <a:off x="6071616" y="987552"/>
            <a:ext cx="841248" cy="1024128"/>
          </a:xfrm>
          <a:prstGeom prst="rect">
            <a:avLst/>
          </a:prstGeom>
          <a:solidFill>
            <a:srgbClr val="2D3A8C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71616" y="101498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71616" y="149047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units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912864" y="1463040"/>
            <a:ext cx="128016" cy="54864"/>
          </a:xfrm>
          <a:prstGeom prst="rect">
            <a:avLst/>
          </a:prstGeom>
          <a:solidFill>
            <a:srgbClr val="3D4A6B"/>
          </a:solidFill>
          <a:ln/>
        </p:spPr>
      </p:sp>
      <p:sp>
        <p:nvSpPr>
          <p:cNvPr id="32" name="Shape 30"/>
          <p:cNvSpPr/>
          <p:nvPr/>
        </p:nvSpPr>
        <p:spPr>
          <a:xfrm>
            <a:off x="7040880" y="987552"/>
            <a:ext cx="841248" cy="1024128"/>
          </a:xfrm>
          <a:prstGeom prst="rect">
            <a:avLst/>
          </a:prstGeom>
          <a:solidFill>
            <a:srgbClr val="E8452C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40880" y="101498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DROPOUT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40880" y="149047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882128" y="1463040"/>
            <a:ext cx="128016" cy="54864"/>
          </a:xfrm>
          <a:prstGeom prst="rect">
            <a:avLst/>
          </a:prstGeom>
          <a:solidFill>
            <a:srgbClr val="3D4A6B"/>
          </a:solidFill>
          <a:ln/>
        </p:spPr>
      </p:sp>
      <p:sp>
        <p:nvSpPr>
          <p:cNvPr id="36" name="Shape 34"/>
          <p:cNvSpPr/>
          <p:nvPr/>
        </p:nvSpPr>
        <p:spPr>
          <a:xfrm>
            <a:off x="8010144" y="987552"/>
            <a:ext cx="841248" cy="1024128"/>
          </a:xfrm>
          <a:prstGeom prst="rect">
            <a:avLst/>
          </a:prstGeom>
          <a:solidFill>
            <a:srgbClr val="1A7A45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010144" y="101498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SOFTMAX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10144" y="149047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5760" y="21762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Hyperparameters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78608"/>
          <a:ext cx="4206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Parameter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Value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× 128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Crossentropy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 / Softmax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4754880" y="21762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Highlights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4754880" y="2642616"/>
            <a:ext cx="329184" cy="329184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43" name="Text 40"/>
          <p:cNvSpPr/>
          <p:nvPr/>
        </p:nvSpPr>
        <p:spPr>
          <a:xfrm>
            <a:off x="5166360" y="2606040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layers learn hierarchical image features automatically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4754880" y="3118104"/>
            <a:ext cx="329184" cy="329184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45" name="Text 42"/>
          <p:cNvSpPr/>
          <p:nvPr/>
        </p:nvSpPr>
        <p:spPr>
          <a:xfrm>
            <a:off x="5166360" y="3081528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 ensures stable &amp; fast training convergence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4754880" y="3593592"/>
            <a:ext cx="329184" cy="32918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7" name="Text 44"/>
          <p:cNvSpPr/>
          <p:nvPr/>
        </p:nvSpPr>
        <p:spPr>
          <a:xfrm>
            <a:off x="5166360" y="355701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Pooling reduces spatial size while keeping key features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4754880" y="4069080"/>
            <a:ext cx="329184" cy="329184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49" name="Text 46"/>
          <p:cNvSpPr/>
          <p:nvPr/>
        </p:nvSpPr>
        <p:spPr>
          <a:xfrm>
            <a:off x="5166360" y="4032504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regularization prevents overfitting on training data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4754880" y="4544568"/>
            <a:ext cx="329184" cy="329184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51" name="Text 48"/>
          <p:cNvSpPr/>
          <p:nvPr/>
        </p:nvSpPr>
        <p:spPr>
          <a:xfrm>
            <a:off x="5166360" y="4507992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 gives probability over each of the 6 classes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 ·  Training vs Validation Accuracy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5577840" cy="3931920"/>
          </a:xfrm>
          <a:prstGeom prst="rect">
            <a:avLst/>
          </a:prstGeom>
          <a:solidFill>
            <a:srgbClr val="FDF7F2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pic>
        <p:nvPicPr>
          <p:cNvPr id="5" name="Image 0" descr="/home/claude/img_train_a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33272"/>
            <a:ext cx="54864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987552"/>
            <a:ext cx="2743200" cy="877824"/>
          </a:xfrm>
          <a:prstGeom prst="rect">
            <a:avLst/>
          </a:prstGeom>
          <a:solidFill>
            <a:srgbClr val="E8ECF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72200" y="987552"/>
            <a:ext cx="54864" cy="877824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8" name="Text 5"/>
          <p:cNvSpPr/>
          <p:nvPr/>
        </p:nvSpPr>
        <p:spPr>
          <a:xfrm>
            <a:off x="6300216" y="10607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Accuracy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00216" y="1399032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high at ~94% and stabilises at ~97% by epoch 20 — very strong training fit.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2743200" cy="877824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1965960"/>
            <a:ext cx="54864" cy="877824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12" name="Text 9"/>
          <p:cNvSpPr/>
          <p:nvPr/>
        </p:nvSpPr>
        <p:spPr>
          <a:xfrm>
            <a:off x="6300216" y="20391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Volatile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0216" y="2377440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 highly unstable — swings between 18% and 92% across epochs.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2944368"/>
            <a:ext cx="2743200" cy="877824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2944368"/>
            <a:ext cx="54864" cy="877824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16" name="Text 13"/>
          <p:cNvSpPr/>
          <p:nvPr/>
        </p:nvSpPr>
        <p:spPr>
          <a:xfrm>
            <a:off x="6300216" y="3017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Severe Overfitting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00216" y="335584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train/val gap throughout — model memorises training data completely.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3922776"/>
            <a:ext cx="2743200" cy="877824"/>
          </a:xfrm>
          <a:prstGeom prst="rect">
            <a:avLst/>
          </a:prstGeom>
          <a:solidFill>
            <a:srgbClr val="E6F4ED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72200" y="3922776"/>
            <a:ext cx="54864" cy="877824"/>
          </a:xfrm>
          <a:prstGeom prst="rect">
            <a:avLst/>
          </a:prstGeom>
          <a:solidFill>
            <a:srgbClr val="1A7A45"/>
          </a:solidFill>
          <a:ln/>
        </p:spPr>
      </p:sp>
      <p:sp>
        <p:nvSpPr>
          <p:cNvPr id="20" name="Text 17"/>
          <p:cNvSpPr/>
          <p:nvPr/>
        </p:nvSpPr>
        <p:spPr>
          <a:xfrm>
            <a:off x="6300216" y="39959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00216" y="4334256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early stopping, stronger dropout &amp; data augmentation to improve generalisation.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 ·  Training vs Validation Loss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5577840" cy="3931920"/>
          </a:xfrm>
          <a:prstGeom prst="rect">
            <a:avLst/>
          </a:prstGeom>
          <a:solidFill>
            <a:srgbClr val="FDF7F2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pic>
        <p:nvPicPr>
          <p:cNvPr id="5" name="Image 0" descr="/home/claude/img_train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33272"/>
            <a:ext cx="54864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987552"/>
            <a:ext cx="2743200" cy="877824"/>
          </a:xfrm>
          <a:prstGeom prst="rect">
            <a:avLst/>
          </a:prstGeom>
          <a:solidFill>
            <a:srgbClr val="E8ECF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72200" y="987552"/>
            <a:ext cx="54864" cy="877824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8" name="Text 5"/>
          <p:cNvSpPr/>
          <p:nvPr/>
        </p:nvSpPr>
        <p:spPr>
          <a:xfrm>
            <a:off x="6300216" y="10607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Loss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00216" y="1399032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 throughout all 20 epochs — model fits training data almost perfectly.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2743200" cy="877824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1965960"/>
            <a:ext cx="54864" cy="877824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12" name="Text 9"/>
          <p:cNvSpPr/>
          <p:nvPr/>
        </p:nvSpPr>
        <p:spPr>
          <a:xfrm>
            <a:off x="6300216" y="20391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Extreme Val Spike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0216" y="2377440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spikes to ~93 at epoch 3 — catastrophic generalisation failure.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2944368"/>
            <a:ext cx="2743200" cy="877824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2944368"/>
            <a:ext cx="54864" cy="877824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16" name="Text 13"/>
          <p:cNvSpPr/>
          <p:nvPr/>
        </p:nvSpPr>
        <p:spPr>
          <a:xfrm>
            <a:off x="6300216" y="3017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Instability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00216" y="335584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fluctuates wildly (0–93) indicating the model cannot generalise.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3922776"/>
            <a:ext cx="2743200" cy="877824"/>
          </a:xfrm>
          <a:prstGeom prst="rect">
            <a:avLst/>
          </a:prstGeom>
          <a:solidFill>
            <a:srgbClr val="FEF3D0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72200" y="3922776"/>
            <a:ext cx="54864" cy="87782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0" name="Text 17"/>
          <p:cNvSpPr/>
          <p:nvPr/>
        </p:nvSpPr>
        <p:spPr>
          <a:xfrm>
            <a:off x="6300216" y="39959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00216" y="4334256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or data leakage causing near-zero training loss throughout.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  ·  Confusion Matrix Analysis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53949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pic>
        <p:nvPicPr>
          <p:cNvPr id="5" name="Image 0" descr="/home/claude/img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33272"/>
            <a:ext cx="530352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9875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89320" y="1444752"/>
            <a:ext cx="2926080" cy="786384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1444752"/>
            <a:ext cx="54864" cy="786384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9" name="Text 6"/>
          <p:cNvSpPr/>
          <p:nvPr/>
        </p:nvSpPr>
        <p:spPr>
          <a:xfrm>
            <a:off x="6108192" y="1508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2 Dominates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08192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heavily predict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— new systematic bias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2331720"/>
            <a:ext cx="2926080" cy="786384"/>
          </a:xfrm>
          <a:prstGeom prst="rect">
            <a:avLst/>
          </a:prstGeom>
          <a:solidFill>
            <a:srgbClr val="E6F4ED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9320" y="2331720"/>
            <a:ext cx="54864" cy="786384"/>
          </a:xfrm>
          <a:prstGeom prst="rect">
            <a:avLst/>
          </a:prstGeom>
          <a:solidFill>
            <a:srgbClr val="1A7A45"/>
          </a:solidFill>
          <a:ln/>
        </p:spPr>
      </p:sp>
      <p:sp>
        <p:nvSpPr>
          <p:cNvPr id="13" name="Text 10"/>
          <p:cNvSpPr/>
          <p:nvPr/>
        </p:nvSpPr>
        <p:spPr>
          <a:xfrm>
            <a:off x="6108192" y="2395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— Class 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08192" y="2715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45/60 correct for Class 3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(rolled-in scale) — top performer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89320" y="3218688"/>
            <a:ext cx="2926080" cy="786384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3218688"/>
            <a:ext cx="54864" cy="786384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17" name="Text 14"/>
          <p:cNvSpPr/>
          <p:nvPr/>
        </p:nvSpPr>
        <p:spPr>
          <a:xfrm>
            <a:off x="6108192" y="32826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Worst — Class 0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108192" y="36027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32/60 correct for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(crazing) — most errors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89320" y="4105656"/>
            <a:ext cx="2926080" cy="786384"/>
          </a:xfrm>
          <a:prstGeom prst="rect">
            <a:avLst/>
          </a:prstGeom>
          <a:solidFill>
            <a:srgbClr val="E8ECF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4105656"/>
            <a:ext cx="54864" cy="786384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21" name="Text 18"/>
          <p:cNvSpPr/>
          <p:nvPr/>
        </p:nvSpPr>
        <p:spPr>
          <a:xfrm>
            <a:off x="6108192" y="41696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4 = 0 Correct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108192" y="44897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correct predictions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Class 4 — pitted surface bias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00" kern="0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  ·  ROC Curve Analysis (One-vs-Rest)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5577840" cy="3931920"/>
          </a:xfrm>
          <a:prstGeom prst="rect">
            <a:avLst/>
          </a:prstGeom>
          <a:solidFill>
            <a:srgbClr val="FDF7F2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pic>
        <p:nvPicPr>
          <p:cNvPr id="5" name="Image 0" descr="/home/claude/img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33272"/>
            <a:ext cx="54864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72200" y="987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 per Class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72200" y="1444752"/>
            <a:ext cx="2743200" cy="493776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15087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Crazing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63640" y="1737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random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149047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0.50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2011680"/>
            <a:ext cx="2743200" cy="493776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63640" y="20756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63640" y="23042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random!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63840" y="205740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0.44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172200" y="2578608"/>
            <a:ext cx="2743200" cy="493776"/>
          </a:xfrm>
          <a:prstGeom prst="rect">
            <a:avLst/>
          </a:prstGeom>
          <a:solidFill>
            <a:srgbClr val="E8ECF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63640" y="26426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63640" y="28712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gain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863840" y="262432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0.52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6172200" y="3145536"/>
            <a:ext cx="2743200" cy="493776"/>
          </a:xfrm>
          <a:prstGeom prst="rect">
            <a:avLst/>
          </a:prstGeom>
          <a:solidFill>
            <a:srgbClr val="E8ECF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263640" y="32095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Pitted Surface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63640" y="34381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gain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863840" y="319125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0.53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6172200" y="3712464"/>
            <a:ext cx="2743200" cy="493776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263640" y="37764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Rolled-in Scale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263640" y="40050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random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863840" y="375818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0.49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6172200" y="4279392"/>
            <a:ext cx="2743200" cy="493776"/>
          </a:xfrm>
          <a:prstGeom prst="rect">
            <a:avLst/>
          </a:prstGeom>
          <a:solidFill>
            <a:srgbClr val="E8ECFA"/>
          </a:solidFill>
          <a:ln/>
          <a:effectLst>
            <a:outerShdw sx="100000" sy="100000" kx="0" ky="0" algn="bl" rotWithShape="0" blurRad="76200" dist="25400" dir="8100000">
              <a:srgbClr val="2D3A8C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263640" y="43434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263640" y="45720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863840" y="432511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0.57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6172200" y="4663440"/>
            <a:ext cx="2743200" cy="329184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32" name="Text 29"/>
          <p:cNvSpPr/>
          <p:nvPr/>
        </p:nvSpPr>
        <p:spPr>
          <a:xfrm>
            <a:off x="6199632" y="468172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AUC ≈ 0.51 — Needs Improvement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PREDICTIONS  ·  CNN Output on Validation Images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on unseen validation images — each tile shows the CNN's classified defect label: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3401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pic>
        <p:nvPicPr>
          <p:cNvPr id="6" name="Image 0" descr="/home/claude/img_predi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8321040" cy="3310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samples predicted as pitted_surface — consistent with confusion matrix class 3 bias finding.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MANAGERIAL IMPLICATIONS  ·  Business Value of CNN Inspection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4251960" cy="1207008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05840"/>
            <a:ext cx="621792" cy="1207008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344168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0704" y="109728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Control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0704" y="1481328"/>
            <a:ext cx="3447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accurate detection of all 6 defect types — reduces manual inspection dependency.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251960" cy="1207008"/>
          </a:xfrm>
          <a:prstGeom prst="rect">
            <a:avLst/>
          </a:prstGeom>
          <a:solidFill>
            <a:srgbClr val="E8ECFA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621792" cy="1207008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44168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59552" y="109728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Efficiency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59552" y="1481328"/>
            <a:ext cx="3447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classification allows earlier defect detection — faster throughput &amp; less rework.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2377440"/>
            <a:ext cx="4251960" cy="1207008"/>
          </a:xfrm>
          <a:prstGeom prst="rect">
            <a:avLst/>
          </a:prstGeom>
          <a:solidFill>
            <a:srgbClr val="FEF3D0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377440"/>
            <a:ext cx="621792" cy="1207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715768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60704" y="246888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Reduction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0704" y="2852928"/>
            <a:ext cx="3447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defects early reduces rework, waste &amp; product recalls — improving profitability.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377440"/>
            <a:ext cx="4251960" cy="1207008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377440"/>
            <a:ext cx="621792" cy="1207008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715768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59552" y="246888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Insights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59552" y="2852928"/>
            <a:ext cx="3447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patterns reveal recurring production issues — enabling targeted process improvements.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" y="3749040"/>
            <a:ext cx="4251960" cy="1207008"/>
          </a:xfrm>
          <a:prstGeom prst="rect">
            <a:avLst/>
          </a:prstGeom>
          <a:solidFill>
            <a:srgbClr val="E8ECFA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749040"/>
            <a:ext cx="621792" cy="1207008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4087368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60704" y="384048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Reliability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60704" y="4224528"/>
            <a:ext cx="3447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inspected before dispatch — strengthens customer trust and quality reputation.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749040"/>
            <a:ext cx="4251960" cy="1207008"/>
          </a:xfrm>
          <a:prstGeom prst="rect">
            <a:avLst/>
          </a:prstGeom>
          <a:solidFill>
            <a:srgbClr val="FEF3D0"/>
          </a:solidFill>
          <a:ln/>
          <a:effectLst>
            <a:outerShdw sx="100000" sy="100000" kx="0" ky="0" algn="bl" rotWithShape="0" blurRad="152400" dist="50800" dir="8100000">
              <a:srgbClr val="2D3A8C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749040"/>
            <a:ext cx="621792" cy="1207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4087368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59552" y="384048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Advantage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59552" y="4224528"/>
            <a:ext cx="3447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QC enables Industry 4.0 adoption and smart manufacturing competitive edge.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04672"/>
            <a:ext cx="8503920" cy="45720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914400"/>
            <a:ext cx="1234440" cy="347472"/>
          </a:xfrm>
          <a:prstGeom prst="roundRect">
            <a:avLst>
              <a:gd name="adj" fmla="val 26316"/>
            </a:avLst>
          </a:prstGeom>
          <a:solidFill>
            <a:srgbClr val="E8452C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9144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344168"/>
            <a:ext cx="4114800" cy="57607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1344168"/>
            <a:ext cx="54864" cy="576072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4356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CNN model classifying 6 steel surface defect types from NEU dataset successfully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" y="2011680"/>
            <a:ext cx="4114800" cy="57607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011680"/>
            <a:ext cx="54864" cy="576072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10312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reaches ~97% — model achieves near-perfect fit on training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2679192"/>
            <a:ext cx="4114800" cy="57607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" y="2679192"/>
            <a:ext cx="54864" cy="576072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770632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overfitting: val accuracy swings 18–92%, loss spikes to 93 at epoch 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7472" y="3346704"/>
            <a:ext cx="4114800" cy="57607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7472" y="3346704"/>
            <a:ext cx="54864" cy="576072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43814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prediction bias identified — model rarely predicts classes 0, 1, 4, 5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" y="4014216"/>
            <a:ext cx="4114800" cy="57607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" y="4014216"/>
            <a:ext cx="54864" cy="576072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410565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stopping, stronger regularization &amp; balanced sampling are critical next steps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1234440" cy="347472"/>
          </a:xfrm>
          <a:prstGeom prst="roundRect">
            <a:avLst>
              <a:gd name="adj" fmla="val 26316"/>
            </a:avLst>
          </a:prstGeom>
          <a:solidFill>
            <a:srgbClr val="F0A500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9144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344168"/>
            <a:ext cx="4251960" cy="57607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13898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Transfer Learning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73168" y="166420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/ VGGNet / EfficientNet for higher classification accuracy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2011680"/>
            <a:ext cx="4251960" cy="57607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773168" y="20574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📷 Real-Time Systems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73168" y="233172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industrial cameras deployed on live production lines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2679192"/>
            <a:ext cx="4251960" cy="57607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27249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Larger Datasets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73168" y="299923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diverse images to improve model robustness &amp; generalization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3346704"/>
            <a:ext cx="4251960" cy="57607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33924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IoT Integration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73168" y="366674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smart factory + predictive maintenance systems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4014216"/>
            <a:ext cx="4251960" cy="57607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40599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Advanced Analytics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73168" y="433425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trend data for proactive quality management strategies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452C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79145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· Keras · NEU Surface Defect DB · CNN · Adam · Aman Verma 065067 · Prof. Amarnath Mitra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Surface Defect Detection - Aman Verma</dc:title>
  <dc:subject>PptxGenJS Presentation</dc:subject>
  <dc:creator>PptxGenJS</dc:creator>
  <cp:lastModifiedBy>PptxGenJS</cp:lastModifiedBy>
  <cp:revision>1</cp:revision>
  <dcterms:created xsi:type="dcterms:W3CDTF">2026-03-16T17:13:33Z</dcterms:created>
  <dcterms:modified xsi:type="dcterms:W3CDTF">2026-03-16T17:13:33Z</dcterms:modified>
</cp:coreProperties>
</file>